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Caveat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6B4F181-CD60-461F-BD59-6A08DD3B2667}">
  <a:tblStyle styleId="{06B4F181-CD60-461F-BD59-6A08DD3B266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Caveat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Cavea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3100a4826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73100a482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3100a4826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73100a482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3100a4826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73100a482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3100a4826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73100a482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73100a4826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73100a482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3100a4826_1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73100a4826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3100a4826_1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73100a4826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-12686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" name="Google Shape;16;p2"/>
          <p:cNvGrpSpPr/>
          <p:nvPr/>
        </p:nvGrpSpPr>
        <p:grpSpPr>
          <a:xfrm>
            <a:off x="6867318" y="1658614"/>
            <a:ext cx="4524583" cy="3540772"/>
            <a:chOff x="6486318" y="1807243"/>
            <a:chExt cx="4524583" cy="3540772"/>
          </a:xfrm>
        </p:grpSpPr>
        <p:sp>
          <p:nvSpPr>
            <p:cNvPr id="17" name="Google Shape;17;p2"/>
            <p:cNvSpPr txBox="1"/>
            <p:nvPr/>
          </p:nvSpPr>
          <p:spPr>
            <a:xfrm>
              <a:off x="6486318" y="1807243"/>
              <a:ext cx="3941505" cy="18466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Wine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b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1" i="1" lang="en-US" sz="2400" u="none" cap="none" strike="noStrike">
                  <a:solidFill>
                    <a:srgbClr val="D8D8D8"/>
                  </a:solidFill>
                  <a:latin typeface="Calibri"/>
                  <a:ea typeface="Calibri"/>
                  <a:cs typeface="Calibri"/>
                  <a:sym typeface="Calibri"/>
                </a:rPr>
                <a:t>PowerPoint template</a:t>
              </a:r>
              <a:endParaRPr b="1" i="1" sz="18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"/>
            <p:cNvSpPr txBox="1"/>
            <p:nvPr/>
          </p:nvSpPr>
          <p:spPr>
            <a:xfrm>
              <a:off x="6486319" y="3897874"/>
              <a:ext cx="4524582" cy="14501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This slide is an editable slide with all your needs. Adapt it with your needs and it will capture all the audience attention. Capture your audience attention . Download this awesome creatives and bring your presentation to life , with our creativity.</a:t>
              </a:r>
              <a:endParaRPr sz="16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" name="Google Shape;19;p2"/>
          <p:cNvSpPr/>
          <p:nvPr/>
        </p:nvSpPr>
        <p:spPr>
          <a:xfrm>
            <a:off x="5181601" y="1891417"/>
            <a:ext cx="4630056" cy="4630056"/>
          </a:xfrm>
          <a:prstGeom prst="ellipse">
            <a:avLst/>
          </a:prstGeom>
          <a:solidFill>
            <a:schemeClr val="lt1">
              <a:alpha val="78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-1422398" y="-1124783"/>
            <a:ext cx="4630056" cy="4630056"/>
          </a:xfrm>
          <a:prstGeom prst="ellipse">
            <a:avLst/>
          </a:prstGeom>
          <a:solidFill>
            <a:schemeClr val="lt1">
              <a:alpha val="392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3808919" y="253831"/>
            <a:ext cx="1642273" cy="1642273"/>
          </a:xfrm>
          <a:prstGeom prst="ellipse">
            <a:avLst/>
          </a:prstGeom>
          <a:solidFill>
            <a:schemeClr val="lt1">
              <a:alpha val="274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9585911" y="-903297"/>
            <a:ext cx="3196856" cy="3196852"/>
          </a:xfrm>
          <a:prstGeom prst="ellipse">
            <a:avLst/>
          </a:prstGeom>
          <a:solidFill>
            <a:schemeClr val="lt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9585911" y="4960963"/>
            <a:ext cx="3196856" cy="3196852"/>
          </a:xfrm>
          <a:prstGeom prst="ellipse">
            <a:avLst/>
          </a:prstGeom>
          <a:solidFill>
            <a:schemeClr val="lt1">
              <a:alpha val="78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-433697" y="4960963"/>
            <a:ext cx="3196856" cy="3196852"/>
          </a:xfrm>
          <a:prstGeom prst="ellipse">
            <a:avLst/>
          </a:prstGeom>
          <a:solidFill>
            <a:schemeClr val="lt1">
              <a:alpha val="392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3207658" y="4206445"/>
            <a:ext cx="1267403" cy="1267401"/>
          </a:xfrm>
          <a:prstGeom prst="ellipse">
            <a:avLst/>
          </a:prstGeom>
          <a:solidFill>
            <a:schemeClr val="lt1">
              <a:alpha val="78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8394843" y="1037303"/>
            <a:ext cx="600301" cy="600301"/>
          </a:xfrm>
          <a:prstGeom prst="ellipse">
            <a:avLst/>
          </a:prstGeom>
          <a:solidFill>
            <a:schemeClr val="lt1">
              <a:alpha val="78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10610920" y="3319991"/>
            <a:ext cx="886454" cy="886454"/>
          </a:xfrm>
          <a:prstGeom prst="ellipse">
            <a:avLst/>
          </a:prstGeom>
          <a:solidFill>
            <a:schemeClr val="lt1">
              <a:alpha val="78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6694903" y="775387"/>
            <a:ext cx="340643" cy="340643"/>
          </a:xfrm>
          <a:prstGeom prst="ellipse">
            <a:avLst/>
          </a:prstGeom>
          <a:solidFill>
            <a:schemeClr val="lt1">
              <a:alpha val="78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2" name="Google Shape;32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" name="Google Shape;4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1" name="Google Shape;7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2" name="Google Shape;7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A36E"/>
            </a:gs>
            <a:gs pos="100000">
              <a:srgbClr val="C45F1A"/>
            </a:gs>
          </a:gsLst>
          <a:lin ang="5400012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3"/>
          <p:cNvSpPr txBox="1"/>
          <p:nvPr>
            <p:ph type="ctrTitle"/>
          </p:nvPr>
        </p:nvSpPr>
        <p:spPr>
          <a:xfrm>
            <a:off x="97775" y="1838700"/>
            <a:ext cx="11889000" cy="909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 u="sng">
                <a:latin typeface="Caveat"/>
                <a:ea typeface="Caveat"/>
                <a:cs typeface="Caveat"/>
                <a:sym typeface="Caveat"/>
              </a:rPr>
              <a:t>Mon étude du marché américains viticole</a:t>
            </a:r>
            <a:endParaRPr sz="5200" u="sng"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99" name="Google Shape;99;p13"/>
          <p:cNvSpPr txBox="1"/>
          <p:nvPr>
            <p:ph idx="1" type="subTitle"/>
          </p:nvPr>
        </p:nvSpPr>
        <p:spPr>
          <a:xfrm>
            <a:off x="1524000" y="3678248"/>
            <a:ext cx="9144000" cy="483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u="sng">
                <a:latin typeface="Caveat"/>
                <a:ea typeface="Caveat"/>
                <a:cs typeface="Caveat"/>
                <a:sym typeface="Caveat"/>
              </a:rPr>
              <a:t>Par Philippe Kirstetter-Fender</a:t>
            </a:r>
            <a:endParaRPr sz="2800" u="sng"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latin typeface="Caveat"/>
                <a:ea typeface="Caveat"/>
                <a:cs typeface="Caveat"/>
                <a:sym typeface="Caveat"/>
              </a:rPr>
              <a:t>Contexte</a:t>
            </a:r>
            <a:r>
              <a:rPr lang="en-US" u="sng">
                <a:latin typeface="Caveat"/>
                <a:ea typeface="Caveat"/>
                <a:cs typeface="Caveat"/>
                <a:sym typeface="Caveat"/>
              </a:rPr>
              <a:t> et problématique</a:t>
            </a:r>
            <a:r>
              <a:rPr lang="en-US">
                <a:latin typeface="Caveat"/>
                <a:ea typeface="Caveat"/>
                <a:cs typeface="Caveat"/>
                <a:sym typeface="Caveat"/>
              </a:rPr>
              <a:t> :</a:t>
            </a:r>
            <a:endParaRPr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05" name="Google Shape;105;p14"/>
          <p:cNvSpPr txBox="1"/>
          <p:nvPr>
            <p:ph idx="1" type="body"/>
          </p:nvPr>
        </p:nvSpPr>
        <p:spPr>
          <a:xfrm>
            <a:off x="487500" y="2226750"/>
            <a:ext cx="11217000" cy="240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Caveat"/>
                <a:ea typeface="Caveat"/>
                <a:cs typeface="Caveat"/>
                <a:sym typeface="Caveat"/>
              </a:rPr>
              <a:t>Le Domaine des Croix souhaite exporter ses vins vers les Etats-Unis</a:t>
            </a:r>
            <a:endParaRPr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Caveat"/>
                <a:ea typeface="Caveat"/>
                <a:cs typeface="Caveat"/>
                <a:sym typeface="Caveat"/>
              </a:rPr>
              <a:t>Son objectif : fixer un prix compétitif en fonction du marché.</a:t>
            </a:r>
            <a:endParaRPr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Caveat"/>
                <a:ea typeface="Caveat"/>
                <a:cs typeface="Caveat"/>
                <a:sym typeface="Caveat"/>
              </a:rPr>
              <a:t>Le jeu de donné qui m’a été confié, contient plus de 130 000 vins avec  prix, cépages et pays.</a:t>
            </a:r>
            <a:endParaRPr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latin typeface="Caveat"/>
                <a:ea typeface="Caveat"/>
                <a:cs typeface="Caveat"/>
                <a:sym typeface="Caveat"/>
              </a:rPr>
              <a:t>Ma </a:t>
            </a:r>
            <a:r>
              <a:rPr lang="en-US" u="sng">
                <a:latin typeface="Caveat"/>
                <a:ea typeface="Caveat"/>
                <a:cs typeface="Caveat"/>
                <a:sym typeface="Caveat"/>
              </a:rPr>
              <a:t>méthodologie</a:t>
            </a:r>
            <a:r>
              <a:rPr lang="en-US" u="sng">
                <a:latin typeface="Caveat"/>
                <a:ea typeface="Caveat"/>
                <a:cs typeface="Caveat"/>
                <a:sym typeface="Caveat"/>
              </a:rPr>
              <a:t> et mes outils utilisés</a:t>
            </a:r>
            <a:r>
              <a:rPr lang="en-US">
                <a:latin typeface="Caveat"/>
                <a:ea typeface="Caveat"/>
                <a:cs typeface="Caveat"/>
                <a:sym typeface="Caveat"/>
              </a:rPr>
              <a:t> :</a:t>
            </a:r>
            <a:endParaRPr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845650" y="1854950"/>
            <a:ext cx="10515600" cy="459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Caveat"/>
                <a:ea typeface="Caveat"/>
                <a:cs typeface="Caveat"/>
                <a:sym typeface="Caveat"/>
              </a:rPr>
              <a:t>Mon environnement sur Visual Studio Code, afin d’utiliser les performances de mon ordinateur, au lieu de celles de Google Collab.</a:t>
            </a:r>
            <a:endParaRPr sz="2000">
              <a:latin typeface="Caveat"/>
              <a:ea typeface="Caveat"/>
              <a:cs typeface="Caveat"/>
              <a:sym typeface="Caveat"/>
            </a:endParaRPr>
          </a:p>
          <a:p>
            <a:pPr indent="0" lvl="0" marL="45720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aveat"/>
              <a:ea typeface="Caveat"/>
              <a:cs typeface="Caveat"/>
              <a:sym typeface="Caveat"/>
            </a:endParaRPr>
          </a:p>
          <a:p>
            <a:pPr indent="0" lvl="0" marL="45720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Caveat"/>
                <a:ea typeface="Caveat"/>
                <a:cs typeface="Caveat"/>
                <a:sym typeface="Caveat"/>
              </a:rPr>
              <a:t>Le nettoyage des données avec le </a:t>
            </a:r>
            <a:r>
              <a:rPr lang="en-US" sz="2000">
                <a:latin typeface="Caveat"/>
                <a:ea typeface="Caveat"/>
                <a:cs typeface="Caveat"/>
                <a:sym typeface="Caveat"/>
              </a:rPr>
              <a:t>langage</a:t>
            </a:r>
            <a:r>
              <a:rPr lang="en-US" sz="2000">
                <a:latin typeface="Caveat"/>
                <a:ea typeface="Caveat"/>
                <a:cs typeface="Caveat"/>
                <a:sym typeface="Caveat"/>
              </a:rPr>
              <a:t> python (pandas).</a:t>
            </a:r>
            <a:endParaRPr sz="2000">
              <a:latin typeface="Caveat"/>
              <a:ea typeface="Caveat"/>
              <a:cs typeface="Caveat"/>
              <a:sym typeface="Caveat"/>
            </a:endParaRPr>
          </a:p>
          <a:p>
            <a:pPr indent="0" lvl="0" marL="45720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aveat"/>
              <a:ea typeface="Caveat"/>
              <a:cs typeface="Caveat"/>
              <a:sym typeface="Caveat"/>
            </a:endParaRPr>
          </a:p>
          <a:p>
            <a:pPr indent="0" lvl="0" marL="45720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Caveat"/>
                <a:ea typeface="Caveat"/>
                <a:cs typeface="Caveat"/>
                <a:sym typeface="Caveat"/>
              </a:rPr>
              <a:t>La pré-visualisation de données en graphiques via le fichier nettoyé.</a:t>
            </a:r>
            <a:endParaRPr sz="2000">
              <a:latin typeface="Caveat"/>
              <a:ea typeface="Caveat"/>
              <a:cs typeface="Caveat"/>
              <a:sym typeface="Caveat"/>
            </a:endParaRPr>
          </a:p>
          <a:p>
            <a:pPr indent="0" lvl="0" marL="45720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aveat"/>
              <a:ea typeface="Caveat"/>
              <a:cs typeface="Caveat"/>
              <a:sym typeface="Caveat"/>
            </a:endParaRPr>
          </a:p>
          <a:p>
            <a:pPr indent="0" lvl="0" marL="45720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Caveat"/>
                <a:ea typeface="Caveat"/>
                <a:cs typeface="Caveat"/>
                <a:sym typeface="Caveat"/>
              </a:rPr>
              <a:t>La visualisation des données sur PowerBI</a:t>
            </a:r>
            <a:endParaRPr sz="2000">
              <a:latin typeface="Caveat"/>
              <a:ea typeface="Caveat"/>
              <a:cs typeface="Caveat"/>
              <a:sym typeface="Caveat"/>
            </a:endParaRPr>
          </a:p>
          <a:p>
            <a:pPr indent="0" lvl="0" marL="45720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aveat"/>
              <a:ea typeface="Caveat"/>
              <a:cs typeface="Caveat"/>
              <a:sym typeface="Caveat"/>
            </a:endParaRPr>
          </a:p>
          <a:p>
            <a:pPr indent="0" lvl="0" marL="45720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Caveat"/>
                <a:ea typeface="Caveat"/>
                <a:cs typeface="Caveat"/>
                <a:sym typeface="Caveat"/>
              </a:rPr>
              <a:t>La création de KPI, données pour des visualisations interactives.</a:t>
            </a:r>
            <a:endParaRPr sz="2000">
              <a:latin typeface="Caveat"/>
              <a:ea typeface="Caveat"/>
              <a:cs typeface="Caveat"/>
              <a:sym typeface="Caveat"/>
            </a:endParaRPr>
          </a:p>
          <a:p>
            <a:pPr indent="0" lvl="0" marL="45720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aveat"/>
              <a:ea typeface="Caveat"/>
              <a:cs typeface="Caveat"/>
              <a:sym typeface="Caveat"/>
            </a:endParaRPr>
          </a:p>
          <a:p>
            <a:pPr indent="0" lvl="0" marL="45720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Caveat"/>
                <a:ea typeface="Caveat"/>
                <a:cs typeface="Caveat"/>
                <a:sym typeface="Caveat"/>
              </a:rPr>
              <a:t>La comparaison des données à plusieurs échelles (pays/notes/prix).</a:t>
            </a:r>
            <a:endParaRPr sz="2000"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>
            <p:ph type="title"/>
          </p:nvPr>
        </p:nvSpPr>
        <p:spPr>
          <a:xfrm>
            <a:off x="2721525" y="394450"/>
            <a:ext cx="6924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latin typeface="Caveat"/>
                <a:ea typeface="Caveat"/>
                <a:cs typeface="Caveat"/>
                <a:sym typeface="Caveat"/>
              </a:rPr>
              <a:t>Vue d’ensemble du marché du vin</a:t>
            </a:r>
            <a:r>
              <a:rPr lang="en-US">
                <a:latin typeface="Caveat"/>
                <a:ea typeface="Caveat"/>
                <a:cs typeface="Caveat"/>
                <a:sym typeface="Caveat"/>
              </a:rPr>
              <a:t> : </a:t>
            </a:r>
            <a:endParaRPr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371525" y="1857650"/>
            <a:ext cx="11497800" cy="44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rPr>
              <a:t>Grâce au tableau de bord Power BI, le Domaine des Croix a désormais une vision claire de ses concurrents sur le marché américain.</a:t>
            </a:r>
            <a:endParaRPr sz="2000">
              <a:solidFill>
                <a:schemeClr val="dk1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rPr>
              <a:t>En comparaison avec les éléments suivants :</a:t>
            </a:r>
            <a:endParaRPr sz="2000">
              <a:solidFill>
                <a:schemeClr val="dk1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rPr>
              <a:t>Cépage : Pinot Noir</a:t>
            </a:r>
            <a:endParaRPr sz="2000">
              <a:solidFill>
                <a:schemeClr val="dk1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rPr>
              <a:t>Région : Bourgogne</a:t>
            </a:r>
            <a:endParaRPr sz="2000">
              <a:solidFill>
                <a:schemeClr val="dk1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rPr>
              <a:t>Note œnologique : 90 à 92 points</a:t>
            </a:r>
            <a:endParaRPr sz="2000">
              <a:solidFill>
                <a:schemeClr val="dk1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rPr>
              <a:t>Pour le m</a:t>
            </a:r>
            <a:r>
              <a:rPr lang="en-US" sz="20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rPr>
              <a:t>arché ciblé :  les États-Unis</a:t>
            </a:r>
            <a:br>
              <a:rPr lang="en-US" sz="20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rPr>
            </a:br>
            <a:endParaRPr sz="2000">
              <a:solidFill>
                <a:schemeClr val="dk1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rPr>
              <a:t>Cette analyse permet d'identifier avec précision les fourchettes de prix pratiquées par les vins comparables.</a:t>
            </a:r>
            <a:endParaRPr b="1" sz="2000">
              <a:solidFill>
                <a:schemeClr val="dk1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latin typeface="Caveat"/>
                <a:ea typeface="Caveat"/>
                <a:cs typeface="Caveat"/>
                <a:sym typeface="Caveat"/>
              </a:rPr>
              <a:t>Scénarios de positionnement</a:t>
            </a:r>
            <a:r>
              <a:rPr lang="en-US">
                <a:latin typeface="Caveat"/>
                <a:ea typeface="Caveat"/>
                <a:cs typeface="Caveat"/>
                <a:sym typeface="Caveat"/>
              </a:rPr>
              <a:t> : </a:t>
            </a:r>
            <a:endParaRPr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23" name="Google Shape;123;p17"/>
          <p:cNvSpPr txBox="1"/>
          <p:nvPr>
            <p:ph idx="1" type="body"/>
          </p:nvPr>
        </p:nvSpPr>
        <p:spPr>
          <a:xfrm>
            <a:off x="730650" y="1854975"/>
            <a:ext cx="10515600" cy="85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250" u="sng">
                <a:latin typeface="Caveat"/>
                <a:ea typeface="Caveat"/>
                <a:cs typeface="Caveat"/>
                <a:sym typeface="Caveat"/>
              </a:rPr>
              <a:t>En fonction des objectifs commerciaux du Domaine, voici les trois gammes de prix possibles</a:t>
            </a:r>
            <a:r>
              <a:rPr lang="en-US" sz="8250">
                <a:latin typeface="Caveat"/>
                <a:ea typeface="Caveat"/>
                <a:cs typeface="Caveat"/>
                <a:sym typeface="Caveat"/>
              </a:rPr>
              <a:t> :</a:t>
            </a:r>
            <a:endParaRPr sz="8250"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6250"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aveat"/>
              <a:ea typeface="Caveat"/>
              <a:cs typeface="Caveat"/>
              <a:sym typeface="Caveat"/>
            </a:endParaRPr>
          </a:p>
        </p:txBody>
      </p:sp>
      <p:graphicFrame>
        <p:nvGraphicFramePr>
          <p:cNvPr id="124" name="Google Shape;124;p17"/>
          <p:cNvGraphicFramePr/>
          <p:nvPr/>
        </p:nvGraphicFramePr>
        <p:xfrm>
          <a:off x="944325" y="279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{06B4F181-CD60-461F-BD59-6A08DD3B2667}</a:tableStyleId>
              </a:tblPr>
              <a:tblGrid>
                <a:gridCol w="1867425"/>
                <a:gridCol w="2146125"/>
                <a:gridCol w="3609400"/>
                <a:gridCol w="2786525"/>
              </a:tblGrid>
              <a:tr h="66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sng">
                          <a:latin typeface="Caveat"/>
                          <a:ea typeface="Caveat"/>
                          <a:cs typeface="Caveat"/>
                          <a:sym typeface="Caveat"/>
                        </a:rPr>
                        <a:t>Positionnement</a:t>
                      </a:r>
                      <a:r>
                        <a:rPr lang="en-US" sz="2000">
                          <a:latin typeface="Caveat"/>
                          <a:ea typeface="Caveat"/>
                          <a:cs typeface="Caveat"/>
                          <a:sym typeface="Caveat"/>
                        </a:rPr>
                        <a:t> :</a:t>
                      </a:r>
                      <a:endParaRPr sz="2000">
                        <a:latin typeface="Caveat"/>
                        <a:ea typeface="Caveat"/>
                        <a:cs typeface="Caveat"/>
                        <a:sym typeface="Cave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veat"/>
                          <a:ea typeface="Caveat"/>
                          <a:cs typeface="Caveat"/>
                          <a:sym typeface="Caveat"/>
                        </a:rPr>
                        <a:t> </a:t>
                      </a:r>
                      <a:r>
                        <a:rPr lang="en-US" sz="2000" u="sng">
                          <a:latin typeface="Caveat"/>
                          <a:ea typeface="Caveat"/>
                          <a:cs typeface="Caveat"/>
                          <a:sym typeface="Caveat"/>
                        </a:rPr>
                        <a:t>Objectif</a:t>
                      </a:r>
                      <a:r>
                        <a:rPr lang="en-US" sz="2000">
                          <a:latin typeface="Caveat"/>
                          <a:ea typeface="Caveat"/>
                          <a:cs typeface="Caveat"/>
                          <a:sym typeface="Caveat"/>
                        </a:rPr>
                        <a:t> :</a:t>
                      </a:r>
                      <a:endParaRPr sz="2000">
                        <a:latin typeface="Caveat"/>
                        <a:ea typeface="Caveat"/>
                        <a:cs typeface="Caveat"/>
                        <a:sym typeface="Cave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veat"/>
                          <a:ea typeface="Caveat"/>
                          <a:cs typeface="Caveat"/>
                          <a:sym typeface="Caveat"/>
                        </a:rPr>
                        <a:t> </a:t>
                      </a:r>
                      <a:r>
                        <a:rPr lang="en-US" sz="2000" u="sng">
                          <a:latin typeface="Caveat"/>
                          <a:ea typeface="Caveat"/>
                          <a:cs typeface="Caveat"/>
                          <a:sym typeface="Caveat"/>
                        </a:rPr>
                        <a:t>Prix constaté chez les concurrents</a:t>
                      </a:r>
                      <a:r>
                        <a:rPr lang="en-US" sz="2000">
                          <a:latin typeface="Caveat"/>
                          <a:ea typeface="Caveat"/>
                          <a:cs typeface="Caveat"/>
                          <a:sym typeface="Caveat"/>
                        </a:rPr>
                        <a:t> :</a:t>
                      </a:r>
                      <a:endParaRPr sz="2000">
                        <a:latin typeface="Caveat"/>
                        <a:ea typeface="Caveat"/>
                        <a:cs typeface="Caveat"/>
                        <a:sym typeface="Cave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sng">
                          <a:latin typeface="Caveat"/>
                          <a:ea typeface="Caveat"/>
                          <a:cs typeface="Caveat"/>
                          <a:sym typeface="Caveat"/>
                        </a:rPr>
                        <a:t>Recommandation</a:t>
                      </a:r>
                      <a:r>
                        <a:rPr lang="en-US" sz="2000">
                          <a:latin typeface="Caveat"/>
                          <a:ea typeface="Caveat"/>
                          <a:cs typeface="Caveat"/>
                          <a:sym typeface="Caveat"/>
                        </a:rPr>
                        <a:t> :</a:t>
                      </a:r>
                      <a:endParaRPr sz="2000">
                        <a:latin typeface="Caveat"/>
                        <a:ea typeface="Caveat"/>
                        <a:cs typeface="Caveat"/>
                        <a:sym typeface="Caveat"/>
                      </a:endParaRPr>
                    </a:p>
                  </a:txBody>
                  <a:tcPr marT="91425" marB="91425" marR="91425" marL="91425"/>
                </a:tc>
              </a:tr>
              <a:tr h="60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veat"/>
                          <a:ea typeface="Caveat"/>
                          <a:cs typeface="Caveat"/>
                          <a:sym typeface="Caveat"/>
                        </a:rPr>
                        <a:t>Entrée de gamme</a:t>
                      </a:r>
                      <a:endParaRPr sz="2000">
                        <a:latin typeface="Caveat"/>
                        <a:ea typeface="Caveat"/>
                        <a:cs typeface="Caveat"/>
                        <a:sym typeface="Cave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veat"/>
                          <a:ea typeface="Caveat"/>
                          <a:cs typeface="Caveat"/>
                          <a:sym typeface="Caveat"/>
                        </a:rPr>
                        <a:t>Prix accessible, volume</a:t>
                      </a:r>
                      <a:endParaRPr sz="2000">
                        <a:latin typeface="Caveat"/>
                        <a:ea typeface="Caveat"/>
                        <a:cs typeface="Caveat"/>
                        <a:sym typeface="Cave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veat"/>
                          <a:ea typeface="Caveat"/>
                          <a:cs typeface="Caveat"/>
                          <a:sym typeface="Caveat"/>
                        </a:rPr>
                        <a:t>Moins de 35 $</a:t>
                      </a:r>
                      <a:endParaRPr sz="2000">
                        <a:latin typeface="Caveat"/>
                        <a:ea typeface="Caveat"/>
                        <a:cs typeface="Caveat"/>
                        <a:sym typeface="Cave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veat"/>
                          <a:ea typeface="Caveat"/>
                          <a:cs typeface="Caveat"/>
                          <a:sym typeface="Caveat"/>
                        </a:rPr>
                        <a:t>30–35 $</a:t>
                      </a:r>
                      <a:endParaRPr sz="2000">
                        <a:latin typeface="Caveat"/>
                        <a:ea typeface="Caveat"/>
                        <a:cs typeface="Caveat"/>
                        <a:sym typeface="Caveat"/>
                      </a:endParaRPr>
                    </a:p>
                  </a:txBody>
                  <a:tcPr marT="91425" marB="91425" marR="91425" marL="91425"/>
                </a:tc>
              </a:tr>
              <a:tr h="60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veat"/>
                          <a:ea typeface="Caveat"/>
                          <a:cs typeface="Caveat"/>
                          <a:sym typeface="Caveat"/>
                        </a:rPr>
                        <a:t>Milieu de gamme</a:t>
                      </a:r>
                      <a:endParaRPr sz="2000">
                        <a:latin typeface="Caveat"/>
                        <a:ea typeface="Caveat"/>
                        <a:cs typeface="Caveat"/>
                        <a:sym typeface="Cave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veat"/>
                          <a:ea typeface="Caveat"/>
                          <a:cs typeface="Caveat"/>
                          <a:sym typeface="Caveat"/>
                        </a:rPr>
                        <a:t>Équilibre prix/qualité</a:t>
                      </a:r>
                      <a:endParaRPr sz="2000">
                        <a:latin typeface="Caveat"/>
                        <a:ea typeface="Caveat"/>
                        <a:cs typeface="Caveat"/>
                        <a:sym typeface="Cave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veat"/>
                          <a:ea typeface="Caveat"/>
                          <a:cs typeface="Caveat"/>
                          <a:sym typeface="Caveat"/>
                        </a:rPr>
                        <a:t>35 à 45 $</a:t>
                      </a:r>
                      <a:endParaRPr sz="2000">
                        <a:latin typeface="Caveat"/>
                        <a:ea typeface="Caveat"/>
                        <a:cs typeface="Caveat"/>
                        <a:sym typeface="Cave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veat"/>
                          <a:ea typeface="Caveat"/>
                          <a:cs typeface="Caveat"/>
                          <a:sym typeface="Caveat"/>
                        </a:rPr>
                        <a:t>38–44 $</a:t>
                      </a:r>
                      <a:endParaRPr sz="2000">
                        <a:latin typeface="Caveat"/>
                        <a:ea typeface="Caveat"/>
                        <a:cs typeface="Caveat"/>
                        <a:sym typeface="Caveat"/>
                      </a:endParaRPr>
                    </a:p>
                  </a:txBody>
                  <a:tcPr marT="91425" marB="91425" marR="91425" marL="91425"/>
                </a:tc>
              </a:tr>
              <a:tr h="977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veat"/>
                          <a:ea typeface="Caveat"/>
                          <a:cs typeface="Caveat"/>
                          <a:sym typeface="Caveat"/>
                        </a:rPr>
                        <a:t>Haut de gamme</a:t>
                      </a:r>
                      <a:endParaRPr sz="2000">
                        <a:latin typeface="Caveat"/>
                        <a:ea typeface="Caveat"/>
                        <a:cs typeface="Caveat"/>
                        <a:sym typeface="Cave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veat"/>
                          <a:ea typeface="Caveat"/>
                          <a:cs typeface="Caveat"/>
                          <a:sym typeface="Caveat"/>
                        </a:rPr>
                        <a:t>Valorisation du prestige</a:t>
                      </a:r>
                      <a:endParaRPr sz="2000">
                        <a:latin typeface="Caveat"/>
                        <a:ea typeface="Caveat"/>
                        <a:cs typeface="Caveat"/>
                        <a:sym typeface="Cave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veat"/>
                          <a:ea typeface="Caveat"/>
                          <a:cs typeface="Caveat"/>
                          <a:sym typeface="Caveat"/>
                        </a:rPr>
                        <a:t>Plus de 45 $</a:t>
                      </a:r>
                      <a:endParaRPr sz="2000">
                        <a:latin typeface="Caveat"/>
                        <a:ea typeface="Caveat"/>
                        <a:cs typeface="Caveat"/>
                        <a:sym typeface="Cave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aveat"/>
                          <a:ea typeface="Caveat"/>
                          <a:cs typeface="Caveat"/>
                          <a:sym typeface="Caveat"/>
                        </a:rPr>
                        <a:t>48–52 $</a:t>
                      </a:r>
                      <a:endParaRPr sz="2000">
                        <a:latin typeface="Caveat"/>
                        <a:ea typeface="Caveat"/>
                        <a:cs typeface="Caveat"/>
                        <a:sym typeface="Cave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latin typeface="Caveat"/>
                <a:ea typeface="Caveat"/>
                <a:cs typeface="Caveat"/>
                <a:sym typeface="Caveat"/>
              </a:rPr>
              <a:t>Ma recommandation</a:t>
            </a:r>
            <a:r>
              <a:rPr lang="en-US">
                <a:latin typeface="Caveat"/>
                <a:ea typeface="Caveat"/>
                <a:cs typeface="Caveat"/>
                <a:sym typeface="Caveat"/>
              </a:rPr>
              <a:t> :</a:t>
            </a:r>
            <a:r>
              <a:rPr lang="en-US"/>
              <a:t> </a:t>
            </a:r>
            <a:endParaRPr/>
          </a:p>
        </p:txBody>
      </p:sp>
      <p:sp>
        <p:nvSpPr>
          <p:cNvPr id="130" name="Google Shape;130;p18"/>
          <p:cNvSpPr txBox="1"/>
          <p:nvPr>
            <p:ph idx="1" type="body"/>
          </p:nvPr>
        </p:nvSpPr>
        <p:spPr>
          <a:xfrm>
            <a:off x="303100" y="1825625"/>
            <a:ext cx="11527200" cy="1684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u="sng">
                <a:latin typeface="Caveat"/>
                <a:ea typeface="Caveat"/>
                <a:cs typeface="Caveat"/>
                <a:sym typeface="Caveat"/>
              </a:rPr>
              <a:t>Viser le haut de gamme</a:t>
            </a:r>
            <a:r>
              <a:rPr lang="en-US" sz="2000">
                <a:latin typeface="Caveat"/>
                <a:ea typeface="Caveat"/>
                <a:cs typeface="Caveat"/>
                <a:sym typeface="Caveat"/>
              </a:rPr>
              <a:t> !</a:t>
            </a:r>
            <a:endParaRPr sz="2000">
              <a:latin typeface="Caveat"/>
              <a:ea typeface="Caveat"/>
              <a:cs typeface="Caveat"/>
              <a:sym typeface="Caveat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Caveat"/>
                <a:ea typeface="Caveat"/>
                <a:cs typeface="Caveat"/>
                <a:sym typeface="Caveat"/>
              </a:rPr>
              <a:t>Si le Domaine des Croix souhaite se positionner sur le haut de gamme, les 25 % les plus chers de ses concurrents (Pinot Noir de Bourgogne notés 90+) se vendent au-dessus de 45 $.</a:t>
            </a:r>
            <a:endParaRPr sz="2000"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8"/>
          <p:cNvSpPr txBox="1"/>
          <p:nvPr/>
        </p:nvSpPr>
        <p:spPr>
          <a:xfrm>
            <a:off x="303100" y="3343775"/>
            <a:ext cx="9708600" cy="18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u="sng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rPr>
              <a:t>Je recommande un prix de vente de 50 $, car il permet de </a:t>
            </a:r>
            <a:r>
              <a:rPr lang="en-US" sz="20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rPr>
              <a:t>:</a:t>
            </a:r>
            <a:endParaRPr sz="2000">
              <a:solidFill>
                <a:schemeClr val="dk1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rPr>
              <a:t>Valoriser la réputation de la Bourgogne</a:t>
            </a:r>
            <a:endParaRPr sz="2000">
              <a:solidFill>
                <a:schemeClr val="dk1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rPr>
              <a:t>Confirmer la qualité perçue du vin</a:t>
            </a:r>
            <a:endParaRPr sz="2000">
              <a:solidFill>
                <a:schemeClr val="dk1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rPr>
              <a:t>Créer une image premium sur le marché américain</a:t>
            </a:r>
            <a:endParaRPr sz="2000">
              <a:solidFill>
                <a:schemeClr val="dk1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rPr>
              <a:t>Rester dans une fourchette cohérente avec la concurrence</a:t>
            </a:r>
            <a:endParaRPr sz="2000">
              <a:solidFill>
                <a:schemeClr val="dk1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latin typeface="Caveat"/>
                <a:ea typeface="Caveat"/>
                <a:cs typeface="Caveat"/>
                <a:sym typeface="Caveat"/>
              </a:rPr>
              <a:t>Ajuster en temps réel</a:t>
            </a:r>
            <a:r>
              <a:rPr lang="en-US">
                <a:latin typeface="Caveat"/>
                <a:ea typeface="Caveat"/>
                <a:cs typeface="Caveat"/>
                <a:sym typeface="Caveat"/>
              </a:rPr>
              <a:t> : </a:t>
            </a:r>
            <a:endParaRPr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37" name="Google Shape;137;p19"/>
          <p:cNvSpPr txBox="1"/>
          <p:nvPr>
            <p:ph idx="1" type="body"/>
          </p:nvPr>
        </p:nvSpPr>
        <p:spPr>
          <a:xfrm>
            <a:off x="838200" y="1825625"/>
            <a:ext cx="107475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Caveat"/>
                <a:ea typeface="Caveat"/>
                <a:cs typeface="Caveat"/>
                <a:sym typeface="Caveat"/>
              </a:rPr>
              <a:t>Un prix adapté aux ambitions du Domaine en fonction des </a:t>
            </a:r>
            <a:r>
              <a:rPr lang="en-US" sz="2000">
                <a:latin typeface="Caveat"/>
                <a:ea typeface="Caveat"/>
                <a:cs typeface="Caveat"/>
                <a:sym typeface="Caveat"/>
              </a:rPr>
              <a:t>évolution</a:t>
            </a:r>
            <a:r>
              <a:rPr lang="en-US" sz="2000">
                <a:latin typeface="Caveat"/>
                <a:ea typeface="Caveat"/>
                <a:cs typeface="Caveat"/>
                <a:sym typeface="Caveat"/>
              </a:rPr>
              <a:t> de tendances et des demandes.</a:t>
            </a:r>
            <a:endParaRPr sz="2000"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Caveat"/>
                <a:ea typeface="Caveat"/>
                <a:cs typeface="Caveat"/>
                <a:sym typeface="Caveat"/>
              </a:rPr>
              <a:t>Grâce au tableau de bord Power BI , le Domaine  peut ajuster :</a:t>
            </a:r>
            <a:endParaRPr sz="2000">
              <a:latin typeface="Caveat"/>
              <a:ea typeface="Caveat"/>
              <a:cs typeface="Caveat"/>
              <a:sym typeface="Caveat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Caveat"/>
                <a:ea typeface="Caveat"/>
                <a:cs typeface="Caveat"/>
                <a:sym typeface="Caveat"/>
              </a:rPr>
              <a:t>Son tarif selon sa stratégie commerciale</a:t>
            </a:r>
            <a:endParaRPr sz="2000">
              <a:latin typeface="Caveat"/>
              <a:ea typeface="Caveat"/>
              <a:cs typeface="Caveat"/>
              <a:sym typeface="Caveat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Caveat"/>
                <a:ea typeface="Caveat"/>
                <a:cs typeface="Caveat"/>
                <a:sym typeface="Caveat"/>
              </a:rPr>
              <a:t>Visualiser en temps réel les prix des concurrents similaires</a:t>
            </a:r>
            <a:endParaRPr sz="2000">
              <a:latin typeface="Caveat"/>
              <a:ea typeface="Caveat"/>
              <a:cs typeface="Caveat"/>
              <a:sym typeface="Caveat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Caveat"/>
                <a:ea typeface="Caveat"/>
                <a:cs typeface="Caveat"/>
                <a:sym typeface="Caveat"/>
              </a:rPr>
              <a:t>Tester différents positionnements (premium, accessible, équilibre)</a:t>
            </a:r>
            <a:br>
              <a:rPr lang="en-US" sz="2000">
                <a:latin typeface="Caveat"/>
                <a:ea typeface="Caveat"/>
                <a:cs typeface="Caveat"/>
                <a:sym typeface="Caveat"/>
              </a:rPr>
            </a:br>
            <a:endParaRPr sz="2000">
              <a:latin typeface="Caveat"/>
              <a:ea typeface="Caveat"/>
              <a:cs typeface="Caveat"/>
              <a:sym typeface="Caveat"/>
            </a:endParaRPr>
          </a:p>
          <a:p>
            <a:pPr indent="0" lvl="0" marL="0" marR="3810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Caveat"/>
                <a:ea typeface="Caveat"/>
                <a:cs typeface="Caveat"/>
                <a:sym typeface="Caveat"/>
              </a:rPr>
              <a:t>Le Domaine des Croix peut ainsi s’adapter avec agilité, tout en s'appuyant sur une analyse de marché solide et un outil visuel simple à utiliser.</a:t>
            </a:r>
            <a:endParaRPr sz="2000"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